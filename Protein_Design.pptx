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A951"/>
                </a:solidFill>
                <a:latin typeface="Calibri"/>
              </a:rPr>
              <a:t>GEORGETOWN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Georgia"/>
              </a:rPr>
              <a:t>Protein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C8A951"/>
                </a:solidFill>
                <a:latin typeface="Calibri"/>
              </a:rPr>
              <a:t>From Sequence to Structure to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Department of Biochemistry &amp; Molecular Biology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What is Protein Design?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The Protein Folding Problem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Key Approaches — Overview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Physics-Based Energy Minimisation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Fragment-Based Assembly &amp; Directed Evolution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Computational Tools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Deep-Learning Methods Overview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ProteinMPNN &amp; RFdiffusion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AlphaFold2, ESMFold &amp; LigandMPNN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Applications — Therapeutics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Applications — Enzymes &amp; Biocatalysis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Applications — Biosensors, Biomaterials &amp; Synbio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Challenges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Future Directions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What is Protein Design?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Goal: engineer proteins with a desired structure, stability, or activity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Inverse of the protein-folding problem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Find a sequence that folds reliably into a target 3-D shape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Two broad paradigms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De novo design — create entirely new folds not found in nature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Redesign — modify existing proteins to alter function or stability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Why it matters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Therapeutic proteins, industrial enzymes, biosensors, biomaterials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Accelerates drug discovery and synthetic biology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The Protein Folding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Anfinsen's dogma (1973): sequence determines structure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Nobel Prize in Chemistry 1972 for establishing this principle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Levinthal's paradox: random search of conformational space is impossible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A 100-aa protein would take longer than the age of the universe to fold randomly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Proteins must follow guided folding pathways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Structure → Function relationship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α-helices, β-sheets, and loops create binding pockets, active sites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Design inverts this: target function → desired structure → sequence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Key Approaches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Physics-based methods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Model atomic interactions via energy functions to score/design sequences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Fragment-based assembly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Assemble new backbones from experimentally observed structural fragments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Directed evolution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Iterative in-lab mutagenesis and selection — no structural model needed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Machine-learning / deep-learning methods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Train on structure–sequence pairs from the PDB; sample new sequences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Hybrid approaches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Combine energy-based validation with ML-generated candidates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Physics-Based Energy Minimisation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Rosetta energy function (REF15)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Van der Waals, electrostatics, solvation, H-bonds, torsion terms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Used in RosettaDesign, FastRelax, Enzyme Design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FoldX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Rapid empirical ΔΔG estimates for point mutations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Design workflow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Fix backbone → optimise side-chain rotamers → minimise energy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Monte Carlo sampling or gradient-based minimisation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Limitations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Computationally expensive; energy function approximations can fail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Fragment-Based Assembly &amp; Directed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Fragment-based assembly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Mine the PDB for 3-9 residue structural fragments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Assemble fragments to build novel topologies (Rosetta ab initio)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Enabled design of non-natural TIM-barrel and beta-barrel folds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Directed evolution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Error-prone PCR or DNA shuffling to introduce mutations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Screen or select for improved activity/stability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Frances Arnold: Nobel Prize 2018 for directed evolution of enzymes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Combining both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Computationally propose scaffolds; wet-lab evolution to fine-tune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Computational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Rosetta Suite  (rosettacommons.org)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RosettaDesign, RosettaFold2, FastRelax, RosettaScript pipelines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AlphaFold2 / ColabFold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High-accuracy structure prediction used to validate designs in silico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ESMFold (Meta AI)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Language-model-based folding; ~1000× faster than AlphaFold2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PyMOL / UCSF ChimeraX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Visualisation, manual mutagenesis, figure generation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GROMACS / OpenMM / AMBER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Molecular dynamics — assess stability and dynamics of designs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Modeller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Homology modelling to build initial structural templates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Deep-Learning Methods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Why deep learning?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PDB contains &gt;220 000 structures — rich training data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Models learn implicit rules of protein stability and interaction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Protein language models (PLMs)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Trained on millions of sequences; capture evolutionary constraints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ESM-2, ProtTrans, Ankh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Structure-conditioned models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Take 3-D coordinates as input; predict optimal sequences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Generative models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Hallucinate or diffuse entirely new backbones and sequences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Key advantage over physics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Orders of magnitude faster; capture patterns hard to encode analytically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ProteinMPNN &amp; RFdiffusion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ProteinMPNN  (Dauparas et al., Science 2022)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Message-passing graph neural network over protein backbone atoms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Given fixed backbone coordinates → outputs sequence probabilities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Outperforms Rosetta in experimental success rates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Variants: soluble-MPNN, LigandMPNN, ProteinMPNN-SSM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RFdiffusion  (Watson et al., Nature 2023)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Diffusion model built on RoseTTAFold architecture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Generates de novo backbone conditioned on user-specified motifs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Applications: binders, symmetric assemblies, enzyme active sites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Combined with ProteinMPNN for end-to-end design pipelines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AlphaFold2, ESMFold &amp; LigandMPNN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AlphaFold2  (Jumper et al., Nature 2021)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Transformer + Evoformer; predicts structure with near-experimental accuracy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Used as oracle to validate designed sequences in silico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AlphaFold3 extends to protein–DNA/RNA–ligand complexes (2024)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ESMFold  (Lin et al., Science 2023)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Single-sequence folding from ESM-2 language model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Enables rapid screening of millions of designed sequences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LigandMPNN  (Dauparas et al., Nature Methods 2024)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Extends ProteinMPNN to include small-molecule and nucleic-acid context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Enables enzyme and drug-binding site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Applications — Therapeutics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Designed miniprotein binders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de novo binders to SARS-CoV-2 spike RBD (Cao et al., Science 2020)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Computationally designed influenza inhibitors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Antibody engineering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Stability engineering of clinical antibodies via Rosetta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Bispecific antibodies with redesigned interfaces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Protein-based vaccines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Self-assembling nanoparticle immunogens displaying multiple antigens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Therapeutic enzymes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PEGylated asparaginase for ALL; redesigned for reduced immunogenicity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Cell-penetrating proteins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Designed to cross membranes for intracellular delivery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Applications — Enzymes &amp; Biocatalysis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De novo enzyme design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Retro-aldolase: computationally designed active site on TIM-barrel scaffold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Kemp eliminase: model C–H acid chemistry not found in natural enzymes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Industrial biocatalysis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Directed evolution of P450 enzymes for pharmaceutical synthesis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Thermostable cellulases for biomass degradation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Computational enzyme redesign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Switch substrate specificity or stereoselectivity via active-site mutations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Metalloenzyme design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Introduce non-native metal cofactors (Mn, Fe, Cu) for new reactions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Applications — Biosensors, Biomaterials &amp; Synbio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Fluorescent biosensors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Designed binding pockets that shift chromophore fluorescence on ligand binding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dLight, GRAB sensors for in vivo neurotransmitter imaging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Self-assembling biomaterials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Symmetric protein cages (T33-09) for drug delivery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Hydrogels, fibres, and lattices from designed coiled-coil proteins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Synthetic biology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Orthogonal translation systems with non-canonical amino acids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Logic-gate proteins that respond to multiple input signals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Designed protein–protein interaction networks as synthetic circuits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Experimental validation remains the bottleneck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Synthesis, expression, purification, and biophysical characterisation are slow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High-throughput display methods (yeast, phage, PACE) are improving throughput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Designing protein dynamics and allostery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Most methods optimise the ground-state structure, not conformational change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Non-standard amino acids and post-translational modifications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Expanding chemical space beyond the canonical 20 AAs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Model interpretability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Deep-learning models are largely black boxes — hard to extract design rules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▸  Off-target and immunogenicity risks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     ◦  Designed sequences may trigger immune responses in therapeutic contexts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338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Fully automated design–build–test (DBT) cycles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Robotic labs + ML feedback loops to iterate in days, not months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Foundation models for proteins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Large-scale pre-training on sequence, structure, and function data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Fine-tuning on wet-lab readouts (affinity, stability, activity)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Multi-state and dynamic design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Explicitly optimise ensembles of conformations, not a single structure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Multi-modal design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Co-design of protein–small molecule, protein–RNA, protein–lipid systems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Expanding the genetic code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200+ non-canonical AAs available via amber suppression and genetic code expansion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1A1A"/>
                </a:solidFill>
                <a:latin typeface="Georgia"/>
              </a:rPr>
              <a:t>▸  Democratisation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       ◦  Cloud-based tools (ColabDesign, EvolutionaryScale API) lower barriers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3565A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1.  Anfinsen, C.B. (1973). Principles that govern the folding of protein chains. Science, 181(4096), 223–230.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2.  Jumper, J. et al. (2021). Highly accurate protein structure prediction with AlphaFold. Nature, 596, 583–589.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3.  Dauparas, J. et al. (2022). Robust deep learning-based protein sequence design using ProteinMPNN. Science, 378(6615), 49–56.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4.  Watson, J.L. et al. (2023). De novo design of protein structure and function with RFdiffusion. Nature, 620, 1089–1100.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5.  Lin, Z. et al. (2023). Evolutionary-scale prediction of atomic-level protein structure with a language model. Science, 379(6637), 1123–1130.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6.  Dauparas, J. et al. (2024). Atomic context-conditioned protein sequence design using LigandMPNN. Nature Methods, 21, 1121–1131.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7.  Cao, L. et al. (2020). De novo design of picomolar SARS-CoV-2 miniprotein inhibitors. Science, 370(6515), 426–431.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8.  Arnold, F.H. (2018). Directed Evolution: Bringing New Chemistry to Life. Nobel Lecture. Angew. Chem. Int. Ed., 58, 14420–14426.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9.  Jiang, L. et al. (2008). De novo computational design of retro-aldol enzymes. Science, 319(5868), 1387–1391.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10. Röthlisberger, D. et al. (2008). Kemp elimination catalysts by computational enzyme design. Nature, 453, 190–195.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